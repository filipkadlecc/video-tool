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BACKEND ·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A video is </a:t>
            </a:r>
            <a:r>
              <a:rPr sz="4000" b="1">
                <a:solidFill>
                  <a:srgbClr val="F86606"/>
                </a:solidFill>
                <a:latin typeface="Inter"/>
              </a:rPr>
              <a:t>source code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5798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500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REMOTION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286000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An open-source library that renders React components to video.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907792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9981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3035808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A scene asks one question: what frame are we on?</a:t>
            </a:r>
            <a:r>
              <a:rPr sz="1700" b="0">
                <a:solidFill>
                  <a:srgbClr val="BFC1C5"/>
                </a:solidFill>
                <a:latin typeface="Inter"/>
              </a:rPr>
              <a:t> Remotion says 47.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57600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8496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785616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It returns what frame 47 looks like.</a:t>
            </a:r>
            <a:r>
              <a:rPr sz="1700" b="0">
                <a:solidFill>
                  <a:srgbClr val="BFC1C5"/>
                </a:solidFill>
                <a:latin typeface="Inter"/>
              </a:rPr>
              <a:t> That's the whole API.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407408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994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4535424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Headless Chrome screenshots every frame.</a:t>
            </a:r>
            <a:r>
              <a:rPr sz="1700" b="0">
                <a:solidFill>
                  <a:srgbClr val="BFC1C5"/>
                </a:solidFill>
                <a:latin typeface="Inter"/>
              </a:rPr>
              <a:t> ffmpeg stitches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157216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559552"/>
            <a:ext cx="93936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4F4F5"/>
                </a:solidFill>
                <a:latin typeface="Inter"/>
              </a:rPr>
              <a:t>No project file, no binary — so a video can be read, diffed and re-rendered. </a:t>
            </a:r>
            <a:r>
              <a:rPr sz="2100" b="1">
                <a:solidFill>
                  <a:srgbClr val="F86606"/>
                </a:solidFill>
                <a:latin typeface="Inter"/>
              </a:rPr>
              <a:t>And models are exceptionally good at writing React.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BACKEND ·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What happens when you type a </a:t>
            </a:r>
            <a:r>
              <a:rPr sz="4000" b="1">
                <a:solidFill>
                  <a:srgbClr val="F86606"/>
                </a:solidFill>
                <a:latin typeface="Inter"/>
              </a:rPr>
              <a:t>prompt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938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214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057400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The system prompt is assembled in layers.</a:t>
            </a:r>
            <a:r>
              <a:rPr sz="1700" b="0">
                <a:solidFill>
                  <a:srgbClr val="BFC1C5"/>
                </a:solidFill>
                <a:latin typeface="Inter"/>
              </a:rPr>
              <a:t> Base rules, colour system, layout, style preset, transitions — ~25,000 tokens, cached.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679192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87121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807208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Real Apify frames are attached as images.</a:t>
            </a:r>
            <a:r>
              <a:rPr sz="1700" b="0">
                <a:solidFill>
                  <a:srgbClr val="BFC1C5"/>
                </a:solidFill>
                <a:latin typeface="Inter"/>
              </a:rPr>
              <a:t> It sees the house style instead of reading a description of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429000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6210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557016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Claude Opus 4.8 writes the complete scene as a TSX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178808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3708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4306824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It renders its own frames and looks at them.</a:t>
            </a:r>
            <a:r>
              <a:rPr sz="1700" b="0">
                <a:solidFill>
                  <a:srgbClr val="BFC1C5"/>
                </a:solidFill>
                <a:latin typeface="Inter"/>
              </a:rPr>
              <a:t> Then returns a corrected file. Capped at 3 tool turns, 4 renders.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928616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1206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5056632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The file is transpiled in the browser and plays immediately.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784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BACKEND ·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It looks at its </a:t>
            </a:r>
            <a:r>
              <a:rPr sz="4000" b="1">
                <a:solidFill>
                  <a:srgbClr val="F86606"/>
                </a:solidFill>
                <a:latin typeface="Inter"/>
              </a:rPr>
              <a:t>own work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86000"/>
            <a:ext cx="2542032" cy="1170432"/>
          </a:xfrm>
          <a:prstGeom prst="rect">
            <a:avLst/>
          </a:prstGeom>
          <a:solidFill>
            <a:srgbClr val="161718"/>
          </a:solidFill>
          <a:ln w="15875">
            <a:solidFill>
              <a:srgbClr val="3D3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48716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79806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4F5"/>
                </a:solidFill>
                <a:latin typeface="Inter"/>
              </a:rPr>
              <a:t>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286000"/>
            <a:ext cx="2542032" cy="1170432"/>
          </a:xfrm>
          <a:prstGeom prst="rect">
            <a:avLst/>
          </a:prstGeom>
          <a:solidFill>
            <a:srgbClr val="161718"/>
          </a:solidFill>
          <a:ln w="15875">
            <a:solidFill>
              <a:srgbClr val="3D3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248716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79806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4F5"/>
                </a:solidFill>
                <a:latin typeface="Inter"/>
              </a:rPr>
              <a:t>Render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286000"/>
            <a:ext cx="2542032" cy="1170432"/>
          </a:xfrm>
          <a:prstGeom prst="rect">
            <a:avLst/>
          </a:prstGeom>
          <a:solidFill>
            <a:srgbClr val="2A1A0E"/>
          </a:solidFill>
          <a:ln w="15875">
            <a:solidFill>
              <a:srgbClr val="F866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48716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86606"/>
                </a:solidFill>
                <a:latin typeface="Roboto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79806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4F5"/>
                </a:solidFill>
                <a:latin typeface="Inter"/>
              </a:rPr>
              <a:t>Look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23376" y="2286000"/>
            <a:ext cx="2542032" cy="1170432"/>
          </a:xfrm>
          <a:prstGeom prst="rect">
            <a:avLst/>
          </a:prstGeom>
          <a:solidFill>
            <a:srgbClr val="161718"/>
          </a:solidFill>
          <a:ln w="15875">
            <a:solidFill>
              <a:srgbClr val="3D3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48716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79806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4F4F5"/>
                </a:solidFill>
                <a:latin typeface="Inter"/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886200"/>
            <a:ext cx="9850831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F4F4F5"/>
                </a:solidFill>
                <a:latin typeface="Inter"/>
              </a:rPr>
              <a:t>The model renders real still frames of the scene it just wrote and gets them back </a:t>
            </a:r>
            <a:r>
              <a:rPr sz="1900" b="1">
                <a:solidFill>
                  <a:srgbClr val="F86606"/>
                </a:solidFill>
                <a:latin typeface="Inter"/>
              </a:rPr>
              <a:t>as images</a:t>
            </a:r>
            <a:r>
              <a:rPr sz="1900" b="0">
                <a:solidFill>
                  <a:srgbClr val="F4F4F5"/>
                </a:solidFill>
                <a:latin typeface="Inter"/>
              </a:rPr>
              <a:t> — then checks for text running off the edge, empty frames, off-brand colour, weak contrast and bad pacing, and returns a corrected 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349240"/>
            <a:ext cx="1076523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F4F4F5"/>
                </a:solidFill>
                <a:latin typeface="Inter"/>
              </a:rPr>
              <a:t>It's what a coding agent already does: write, run, look, fix. </a:t>
            </a:r>
            <a:r>
              <a:rPr sz="1900" b="1">
                <a:solidFill>
                  <a:srgbClr val="F86606"/>
                </a:solidFill>
                <a:latin typeface="Inter"/>
              </a:rPr>
              <a:t>Pictures instead of error messages.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BACKEND ·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It </a:t>
            </a:r>
            <a:r>
              <a:rPr sz="4000" b="1">
                <a:solidFill>
                  <a:srgbClr val="F86606"/>
                </a:solidFill>
                <a:latin typeface="Inter"/>
              </a:rPr>
              <a:t>can't</a:t>
            </a:r>
            <a:r>
              <a:rPr sz="4000" b="1">
                <a:solidFill>
                  <a:srgbClr val="F4F4F5"/>
                </a:solidFill>
                <a:latin typeface="Inter"/>
              </a:rPr>
              <a:t> go off-brand.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6654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58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194560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The real palette, ported out of the design system into one file.</a:t>
            </a:r>
            <a:r>
              <a:rPr sz="1700" b="0">
                <a:solidFill>
                  <a:srgbClr val="BFC1C5"/>
                </a:solidFill>
                <a:latin typeface="Inter"/>
              </a:rPr>
              <a:t> Every scene imports it; a raw hex code is a rule violation.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816352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0837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944368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29 branded scenes built from real marketing.</a:t>
            </a:r>
            <a:r>
              <a:rPr sz="1700" b="0">
                <a:solidFill>
                  <a:srgbClr val="BFC1C5"/>
                </a:solidFill>
                <a:latin typeface="Inter"/>
              </a:rPr>
              <a:t> It opens the actual source file before it copies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566160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7581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694176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Real frames from real Apify videos, as images.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315968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079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4443984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The banned moves are a seven-value enum.</a:t>
            </a:r>
            <a:r>
              <a:rPr sz="1700" b="0">
                <a:solidFill>
                  <a:srgbClr val="BFC1C5"/>
                </a:solidFill>
                <a:latin typeface="Inter"/>
              </a:rPr>
              <a:t> No entrance blur, no fade from black, no slide-wipe — not forbidden, unsayable.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065776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468112"/>
            <a:ext cx="93936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4F4F5"/>
                </a:solidFill>
                <a:latin typeface="Inter"/>
              </a:rPr>
              <a:t>Nothing here is fine-tuned. The model isn't trained — </a:t>
            </a:r>
            <a:r>
              <a:rPr sz="2100" b="1">
                <a:solidFill>
                  <a:srgbClr val="F86606"/>
                </a:solidFill>
                <a:latin typeface="Inter"/>
              </a:rPr>
              <a:t>it's fed.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BACKEND ·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A timeline the AI can </a:t>
            </a:r>
            <a:r>
              <a:rPr sz="4000" b="1">
                <a:solidFill>
                  <a:srgbClr val="F86606"/>
                </a:solidFill>
                <a:latin typeface="Inter"/>
              </a:rPr>
              <a:t>drive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6654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58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194560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Tracks, clips, trims, splits, captions, transforms — pure functions.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816352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0837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WYSIWYG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944368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The same component renders the preview and the final export.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566160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7581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694176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A second model (Opus 5) calls 23 tools onto that document instead of writing code.</a:t>
            </a:r>
            <a:r>
              <a:rPr sz="1700" b="0">
                <a:solidFill>
                  <a:srgbClr val="BFC1C5"/>
                </a:solidFill>
                <a:latin typeface="Inter"/>
              </a:rPr>
              <a:t> Move, trim, split, add captions, place a branded scene, cut a range.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315968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079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4443984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It can never invent an ID, and every tool speaks in absolute frames.</a:t>
            </a:r>
            <a:r>
              <a:rPr sz="1700" b="0">
                <a:solidFill>
                  <a:srgbClr val="BFC1C5"/>
                </a:solidFill>
                <a:latin typeface="Inter"/>
              </a:rPr>
              <a:t> No arithmetic to get wrong. Capped at 8 tool calls, 16 to build from empty.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065776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468112"/>
            <a:ext cx="93936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4F4F5"/>
                </a:solidFill>
                <a:latin typeface="Inter"/>
              </a:rPr>
              <a:t>“Cut the dead air, add captions, end card on the last three seconds” is </a:t>
            </a:r>
            <a:r>
              <a:rPr sz="2100" b="1">
                <a:solidFill>
                  <a:srgbClr val="F86606"/>
                </a:solidFill>
                <a:latin typeface="Inter"/>
              </a:rPr>
              <a:t>one sentence</a:t>
            </a:r>
            <a:r>
              <a:rPr sz="2100" b="1">
                <a:solidFill>
                  <a:srgbClr val="F4F4F5"/>
                </a:solidFill>
                <a:latin typeface="Inter"/>
              </a:rPr>
              <a:t> — and still a timeline you can edit by hand.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BACKEND ·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It understands the </a:t>
            </a:r>
            <a:r>
              <a:rPr sz="4000" b="1">
                <a:solidFill>
                  <a:srgbClr val="F86606"/>
                </a:solidFill>
                <a:latin typeface="Inter"/>
              </a:rPr>
              <a:t>footage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2938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214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TRANSCRIBE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057400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Whisper, locally, at word level, then cached.</a:t>
            </a:r>
            <a:r>
              <a:rPr sz="1700" b="0">
                <a:solidFill>
                  <a:srgbClr val="BFC1C5"/>
                </a:solidFill>
                <a:latin typeface="Inter"/>
              </a:rPr>
              <a:t> Nothing leaves the machine.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679192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87121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CUT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807208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Finds silences and filler words and proposes a cut.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429000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6210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SHOTS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557016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Detects real visual cuts with ffmpeg.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178808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3708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REFRAME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4306824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16:9 to 9:16 by tracking the subject with OpenCV.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928616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1206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CAPTIONS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0552" y="5056632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Stored relative to their clip.</a:t>
            </a:r>
            <a:r>
              <a:rPr sz="1700" b="0">
                <a:solidFill>
                  <a:srgbClr val="BFC1C5"/>
                </a:solidFill>
                <a:latin typeface="Inter"/>
              </a:rPr>
              <a:t> Move or split a clip and the words stay in sync.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6784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BACKEND ·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Out the </a:t>
            </a:r>
            <a:r>
              <a:rPr sz="4000" b="1">
                <a:solidFill>
                  <a:srgbClr val="F86606"/>
                </a:solidFill>
                <a:latin typeface="Inter"/>
              </a:rPr>
              <a:t>other end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6654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58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194560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Renders run one at a time, streaming progress.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816352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0837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PRESETS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944368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Named for where the file is going, not the codec.</a:t>
            </a:r>
            <a:r>
              <a:rPr sz="1700" b="0">
                <a:solidFill>
                  <a:srgbClr val="BFC1C5"/>
                </a:solidFill>
                <a:latin typeface="Inter"/>
              </a:rPr>
              <a:t> H.264 to publish · ProRes 4444 for alpha · XQ for grading · QuickTime RLE for OBS · HEVC-alpha for CapCut.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566160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7581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694176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Colour LUTs baked in at export.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315968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079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SIZES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4443984"/>
            <a:ext cx="934791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4K down to arbitrary exact pixel dimensions.</a:t>
            </a:r>
            <a:r>
              <a:rPr sz="1700" b="0">
                <a:solidFill>
                  <a:srgbClr val="BFC1C5"/>
                </a:solidFill>
                <a:latin typeface="Inter"/>
              </a:rPr>
              <a:t> One spot rendered at 832×2496 for an event LED screen.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065776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BACKEND · 8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The </a:t>
            </a:r>
            <a:r>
              <a:rPr sz="4000" b="1">
                <a:solidFill>
                  <a:srgbClr val="F86606"/>
                </a:solidFill>
                <a:latin typeface="Inter"/>
              </a:rPr>
              <a:t>stack</a:t>
            </a:r>
            <a:r>
              <a:rPr sz="4000" b="1">
                <a:solidFill>
                  <a:srgbClr val="F4F4F5"/>
                </a:solidFill>
                <a:latin typeface="Inter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15798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500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BUILT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286000"/>
            <a:ext cx="9347911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Next.js, React, TypeScript, Remotion 4.</a:t>
            </a:r>
            <a:r>
              <a:rPr sz="1700" b="0">
                <a:solidFill>
                  <a:srgbClr val="BFC1C5"/>
                </a:solidFill>
                <a:latin typeface="Inter"/>
              </a:rPr>
              <a:t> 38 API routes, ~2,100 test assertions.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944368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1363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3072384"/>
            <a:ext cx="9347911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Claude is the only AI in it.</a:t>
            </a:r>
            <a:r>
              <a:rPr sz="1700" b="0">
                <a:solidFill>
                  <a:srgbClr val="BFC1C5"/>
                </a:solidFill>
                <a:latin typeface="Inter"/>
              </a:rPr>
              <a:t> Opus 4.8 writes scenes · Opus 5 drives the timeline · Sonnet 4.6 for the cheaper jobs.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730752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2277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858768"/>
            <a:ext cx="9347911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4F4F5"/>
                </a:solidFill>
                <a:latin typeface="Inter"/>
              </a:rPr>
              <a:t>ffmpeg and Whisper run on my machine.</a:t>
            </a:r>
            <a:r>
              <a:rPr sz="1700" b="0">
                <a:solidFill>
                  <a:srgbClr val="BFC1C5"/>
                </a:solidFill>
                <a:latin typeface="Inter"/>
              </a:rPr>
              <a:t> Projects, media and renders all live in one folder. Only the prompt text leaves.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517136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919472"/>
            <a:ext cx="93936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86606"/>
                </a:solidFill>
                <a:latin typeface="Inter"/>
              </a:rPr>
              <a:t>315</a:t>
            </a:r>
            <a:r>
              <a:rPr sz="2100" b="1">
                <a:solidFill>
                  <a:srgbClr val="F4F4F5"/>
                </a:solidFill>
                <a:latin typeface="Inter"/>
              </a:rPr>
              <a:t> projects made with it so far.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