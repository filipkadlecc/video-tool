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FILIP · THE DAY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I've made Apify's videos for </a:t>
            </a:r>
            <a:r>
              <a:rPr sz="4000" b="1">
                <a:solidFill>
                  <a:srgbClr val="F86606"/>
                </a:solidFill>
                <a:latin typeface="Inter"/>
              </a:rPr>
              <a:t>two years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0370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957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THE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331720"/>
            <a:ext cx="9347911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Video content producer at Apify.</a:t>
            </a:r>
            <a:r>
              <a:rPr sz="1700" b="0">
                <a:solidFill>
                  <a:srgbClr val="BFC1C5"/>
                </a:solidFill>
                <a:latin typeface="Inter"/>
              </a:rPr>
              <a:t> Videos for the company, every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9008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821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118104"/>
            <a:ext cx="9347911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A lot of it is motion graphics and animation.</a:t>
            </a:r>
            <a:r>
              <a:rPr sz="1700" b="0">
                <a:solidFill>
                  <a:srgbClr val="BFC1C5"/>
                </a:solidFill>
                <a:latin typeface="Inter"/>
              </a:rPr>
              <a:t> Also every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77647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684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THE CATCH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904488"/>
            <a:ext cx="9347911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I like doing it. In Premiere and After Effects.</a:t>
            </a:r>
            <a:r>
              <a:rPr sz="1700" b="0">
                <a:solidFill>
                  <a:srgbClr val="BFC1C5"/>
                </a:solidFill>
                <a:latin typeface="Inter"/>
              </a:rPr>
              <a:t> That's what makes this a strange talk.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56285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FILIP ·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 love motion design. It just takes </a:t>
            </a:r>
            <a:r>
              <a:rPr sz="4000" b="1">
                <a:solidFill>
                  <a:srgbClr val="F86606"/>
                </a:solidFill>
                <a:latin typeface="Inter"/>
              </a:rPr>
              <a:t>all day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79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00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28600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Make the design — or wait for the design team to make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0779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CONVERT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03580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Figma out, Adobe in.</a:t>
            </a:r>
            <a:r>
              <a:rPr sz="1700" b="0">
                <a:solidFill>
                  <a:srgbClr val="BFC1C5"/>
                </a:solidFill>
                <a:latin typeface="Inter"/>
              </a:rPr>
              <a:t> Every single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5760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496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ANIMATE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78561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Layer by layer.</a:t>
            </a:r>
            <a:r>
              <a:rPr sz="1700" b="0">
                <a:solidFill>
                  <a:srgbClr val="BFC1C5"/>
                </a:solidFill>
                <a:latin typeface="Inter"/>
              </a:rPr>
              <a:t> And there are a lot of layers.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40740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09744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That's fine for a launch video. </a:t>
            </a:r>
            <a:r>
              <a:rPr sz="2100" b="1">
                <a:solidFill>
                  <a:srgbClr val="F86606"/>
                </a:solidFill>
                <a:latin typeface="Inter"/>
              </a:rPr>
              <a:t>It's impossible at YouTube cadence.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HOW IT WORKS ·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Then I met </a:t>
            </a:r>
            <a:r>
              <a:rPr sz="4000" b="1">
                <a:solidFill>
                  <a:srgbClr val="F86606"/>
                </a:solidFill>
                <a:latin typeface="Inter"/>
              </a:rPr>
              <a:t>Remotion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79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00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28600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Your scene asks one question: what frame are we on?</a:t>
            </a:r>
            <a:r>
              <a:rPr sz="1700" b="0">
                <a:solidFill>
                  <a:srgbClr val="BFC1C5"/>
                </a:solidFill>
                <a:latin typeface="Inter"/>
              </a:rPr>
              <a:t> Remotion says 47.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0779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03580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You return what frame 47 looks like.</a:t>
            </a:r>
            <a:r>
              <a:rPr sz="1700" b="0">
                <a:solidFill>
                  <a:srgbClr val="BFC1C5"/>
                </a:solidFill>
                <a:latin typeface="Inter"/>
              </a:rPr>
              <a:t> That's the whole 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5760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496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78561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Headless Chrome screenshots every frame.</a:t>
            </a:r>
            <a:r>
              <a:rPr sz="1700" b="0">
                <a:solidFill>
                  <a:srgbClr val="BFC1C5"/>
                </a:solidFill>
                <a:latin typeface="Inter"/>
              </a:rPr>
              <a:t> ffmpeg stitches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40740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809744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No Figma export. No layers. A video is a </a:t>
            </a:r>
            <a:r>
              <a:rPr sz="2100" b="1">
                <a:solidFill>
                  <a:srgbClr val="F86606"/>
                </a:solidFill>
                <a:latin typeface="Inter"/>
              </a:rPr>
              <a:t>text file</a:t>
            </a:r>
            <a:r>
              <a:rPr sz="2100" b="1">
                <a:solidFill>
                  <a:srgbClr val="F4F4F5"/>
                </a:solidFill>
                <a:latin typeface="Inter"/>
              </a:rPr>
              <a:t> — and models are exceptionally good at writing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HOW IT WORKS ·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Great engine. </a:t>
            </a:r>
            <a:r>
              <a:rPr sz="4000" b="1">
                <a:solidFill>
                  <a:srgbClr val="F86606"/>
                </a:solidFill>
                <a:latin typeface="Inter"/>
              </a:rPr>
              <a:t>Terrible taste.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7510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10312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Remotion could animate anything — and the style was all over the place.</a:t>
            </a:r>
            <a:r>
              <a:rPr sz="1700" b="0">
                <a:solidFill>
                  <a:srgbClr val="BFC1C5"/>
                </a:solidFill>
                <a:latin typeface="Inter"/>
              </a:rPr>
              <a:t> So I taught it our house style.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066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898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83464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Our palette, ported out of the design system.</a:t>
            </a:r>
            <a:r>
              <a:rPr sz="1700" b="0">
                <a:solidFill>
                  <a:srgbClr val="BFC1C5"/>
                </a:solidFill>
                <a:latin typeface="Inter"/>
              </a:rPr>
              <a:t> Every scene imports it; a raw hex code is a rule violation.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3814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30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56616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29 scenes built from our real marketing.</a:t>
            </a:r>
            <a:r>
              <a:rPr sz="1700" b="0">
                <a:solidFill>
                  <a:srgbClr val="BFC1C5"/>
                </a:solidFill>
                <a:latin typeface="Inter"/>
              </a:rPr>
              <a:t> It opens the actual source file before it copies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16966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616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29768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Real frames from real Apify videos, as images.</a:t>
            </a:r>
            <a:r>
              <a:rPr sz="1700" b="0">
                <a:solidFill>
                  <a:srgbClr val="BFC1C5"/>
                </a:solidFill>
                <a:latin typeface="Inter"/>
              </a:rPr>
              <a:t> It sees the house style instead of reading the word “clean”.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9011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0932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502920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The banned moves are a seven-value enum.</a:t>
            </a:r>
            <a:r>
              <a:rPr sz="1700" b="0">
                <a:solidFill>
                  <a:srgbClr val="BFC1C5"/>
                </a:solidFill>
                <a:latin typeface="Inter"/>
              </a:rPr>
              <a:t> No entrance blur, no fade from black, no slide-wipe — unsayable, not forbidden.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3270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HOW IT WORKS ·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Then I put it all in </a:t>
            </a:r>
            <a:r>
              <a:rPr sz="4000" b="1">
                <a:solidFill>
                  <a:srgbClr val="F86606"/>
                </a:solidFill>
                <a:latin typeface="Inter"/>
              </a:rPr>
              <a:t>one place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7510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671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10312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Describe a scene. It animates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066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898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83464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Or drop in a branded block that's already made.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3814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301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56616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Give it footage: it cuts the dead air on its 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16966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616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29768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Or builds the finished video — footage and animation together.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9011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0932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SVG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5029200"/>
            <a:ext cx="9347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Hand it a logo or a diagram and it animates the file itself.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3270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035040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It turned out </a:t>
            </a:r>
            <a:r>
              <a:rPr sz="2100" b="1">
                <a:solidFill>
                  <a:srgbClr val="F86606"/>
                </a:solidFill>
                <a:latin typeface="Inter"/>
              </a:rPr>
              <a:t>far more powerful</a:t>
            </a:r>
            <a:r>
              <a:rPr sz="2100" b="1">
                <a:solidFill>
                  <a:srgbClr val="F4F4F5"/>
                </a:solidFill>
                <a:latin typeface="Inter"/>
              </a:rPr>
              <a:t> than I thought it would 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SPARE · IF THERE'S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It looks at its </a:t>
            </a:r>
            <a:r>
              <a:rPr sz="4000" b="1">
                <a:solidFill>
                  <a:srgbClr val="F86606"/>
                </a:solidFill>
                <a:latin typeface="Inter"/>
              </a:rPr>
              <a:t>own work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377440"/>
            <a:ext cx="2542032" cy="1170432"/>
          </a:xfrm>
          <a:prstGeom prst="rect">
            <a:avLst/>
          </a:prstGeom>
          <a:solidFill>
            <a:srgbClr val="161718"/>
          </a:solidFill>
          <a:ln w="15875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7860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88950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377440"/>
            <a:ext cx="2542032" cy="1170432"/>
          </a:xfrm>
          <a:prstGeom prst="rect">
            <a:avLst/>
          </a:prstGeom>
          <a:solidFill>
            <a:srgbClr val="161718"/>
          </a:solidFill>
          <a:ln w="15875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257860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88950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Render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2542032" cy="1170432"/>
          </a:xfrm>
          <a:prstGeom prst="rect">
            <a:avLst/>
          </a:prstGeom>
          <a:solidFill>
            <a:srgbClr val="2A1A0E"/>
          </a:solidFill>
          <a:ln w="15875">
            <a:solidFill>
              <a:srgbClr val="F86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57860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86606"/>
                </a:solidFill>
                <a:latin typeface="Roboto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88950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Look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3376" y="2377440"/>
            <a:ext cx="2542032" cy="1170432"/>
          </a:xfrm>
          <a:prstGeom prst="rect">
            <a:avLst/>
          </a:prstGeom>
          <a:solidFill>
            <a:srgbClr val="161718"/>
          </a:solidFill>
          <a:ln w="15875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57860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88950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77639"/>
            <a:ext cx="96679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F4F4F5"/>
                </a:solidFill>
                <a:latin typeface="Inter"/>
              </a:rPr>
              <a:t>It writes the scene, renders real frames, </a:t>
            </a:r>
            <a:r>
              <a:rPr sz="2000" b="1">
                <a:solidFill>
                  <a:srgbClr val="F86606"/>
                </a:solidFill>
                <a:latin typeface="Inter"/>
              </a:rPr>
              <a:t>looks at them</a:t>
            </a:r>
            <a:r>
              <a:rPr sz="2000" b="0">
                <a:solidFill>
                  <a:srgbClr val="F4F4F5"/>
                </a:solidFill>
                <a:latin typeface="Inter"/>
              </a:rPr>
              <a:t>, and fixes what it got wrong — before I ever see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4306"/>
            <a:ext cx="12191695" cy="69466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572000"/>
            <a:ext cx="6858000" cy="2286000"/>
          </a:xfrm>
          <a:prstGeom prst="rect">
            <a:avLst/>
          </a:prstGeom>
          <a:solidFill>
            <a:srgbClr val="161718"/>
          </a:solidFill>
          <a:ln w="12700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86606"/>
                </a:solidFill>
                <a:latin typeface="Inter"/>
              </a:rPr>
              <a:t>313</a:t>
            </a:r>
            <a:r>
              <a:rPr sz="2800" b="1">
                <a:solidFill>
                  <a:srgbClr val="F4F4F5"/>
                </a:solidFill>
                <a:latin typeface="Inter"/>
              </a:rPr>
              <a:t> projects. Six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BFC1C5"/>
                </a:solidFill>
                <a:latin typeface="Inter"/>
              </a:rPr>
              <a:t>Chronological. The top rows are March — rainbow, before I taught it anything. The bottom rows are last week. You can watch it learn the house 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62910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FC1C5"/>
                </a:solidFill>
                <a:latin typeface="Roboto Mono"/>
              </a:rPr>
              <a:t>EVERY PROJECT, IN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